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12/26/2025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effectLst>
            <a:outerShdw blurRad="50800" dir="14400000" algn="ctr" rotWithShape="0">
              <a:schemeClr val="bg1">
                <a:alpha val="6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E7057-0AE3-275A-FE09-829B1283E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24" y="1449147"/>
            <a:ext cx="11946192" cy="2971051"/>
          </a:xfrm>
        </p:spPr>
        <p:txBody>
          <a:bodyPr/>
          <a:lstStyle/>
          <a:p>
            <a:r>
              <a:rPr lang="en-US" dirty="0"/>
              <a:t>Sales MIS Dashboard – Superstore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DE5068-4CC0-5B23-3D0B-4BCA5CB34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1070792"/>
          </a:xfrm>
        </p:spPr>
        <p:txBody>
          <a:bodyPr>
            <a:normAutofit/>
          </a:bodyPr>
          <a:lstStyle/>
          <a:p>
            <a:r>
              <a:rPr lang="en-US" dirty="0"/>
              <a:t>MIS Executive Project | Excel-based Reporting &amp; Dashboard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By : Divyam Mahant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561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A292-AB30-3653-891C-48782E7D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593CA-6BB7-59AF-53F2-2BB583A77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a Sales MIS system for management reporting</a:t>
            </a:r>
          </a:p>
          <a:p>
            <a:r>
              <a:rPr lang="en-US" dirty="0"/>
              <a:t>To track monthly sales, profit, and quantity</a:t>
            </a:r>
          </a:p>
          <a:p>
            <a:r>
              <a:rPr lang="en-US" dirty="0"/>
              <a:t>To analyze region, category, and segment performance</a:t>
            </a:r>
          </a:p>
          <a:p>
            <a:r>
              <a:rPr lang="en-US" dirty="0"/>
              <a:t>To support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179221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B79A-610C-FABE-1F7E-6C88047E1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FDDE6-AE75-BC47-2206-92402C800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Dataset: Superstore Sales Data</a:t>
            </a:r>
          </a:p>
          <a:p>
            <a:r>
              <a:rPr lang="en-US" dirty="0"/>
              <a:t>Records: ~10,000 rows</a:t>
            </a:r>
          </a:p>
          <a:p>
            <a:r>
              <a:rPr lang="en-US" dirty="0"/>
              <a:t>Time Period: 2014 – 2017</a:t>
            </a:r>
          </a:p>
          <a:p>
            <a:r>
              <a:rPr lang="en-US" dirty="0"/>
              <a:t>Key fields: </a:t>
            </a:r>
          </a:p>
          <a:p>
            <a:pPr marL="0" indent="0">
              <a:buNone/>
            </a:pPr>
            <a:r>
              <a:rPr lang="en-US" dirty="0"/>
              <a:t>		Order Date, Sales, Profit, Quantity</a:t>
            </a:r>
          </a:p>
          <a:p>
            <a:pPr marL="0" indent="0">
              <a:buNone/>
            </a:pPr>
            <a:r>
              <a:rPr lang="en-US" dirty="0"/>
              <a:t>		Region, Category, Sub-Category, Segment</a:t>
            </a:r>
          </a:p>
        </p:txBody>
      </p:sp>
    </p:spTree>
    <p:extLst>
      <p:ext uri="{BB962C8B-B14F-4D97-AF65-F5344CB8AC3E}">
        <p14:creationId xmlns:p14="http://schemas.microsoft.com/office/powerpoint/2010/main" val="1917678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AE761-0010-9B0D-E912-35FAFCE8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&amp; Preparation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432020-3337-5CD4-9DEE-245665B0A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6163" y="881822"/>
            <a:ext cx="6251575" cy="454349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32C18-A50B-E8B5-993A-FE01F338A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Standardized Order Date and Ship Date using Power Query</a:t>
            </a:r>
          </a:p>
          <a:p>
            <a:r>
              <a:rPr lang="en-US" dirty="0"/>
              <a:t>Verified correct data types (Date, Number, Text)</a:t>
            </a:r>
          </a:p>
          <a:p>
            <a:r>
              <a:rPr lang="en-US" dirty="0"/>
              <a:t>Created helper columns:</a:t>
            </a:r>
          </a:p>
          <a:p>
            <a:pPr lvl="4"/>
            <a:r>
              <a:rPr lang="en-US" dirty="0"/>
              <a:t>Order Month</a:t>
            </a:r>
          </a:p>
          <a:p>
            <a:pPr lvl="4"/>
            <a:r>
              <a:rPr lang="en-US" dirty="0"/>
              <a:t>Order Year</a:t>
            </a:r>
          </a:p>
        </p:txBody>
      </p:sp>
    </p:spTree>
    <p:extLst>
      <p:ext uri="{BB962C8B-B14F-4D97-AF65-F5344CB8AC3E}">
        <p14:creationId xmlns:p14="http://schemas.microsoft.com/office/powerpoint/2010/main" val="3526098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9C97C2-799C-23B3-836F-5703C7958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 Reports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A439471-AD99-D83D-F1AE-C095E226D9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6163" y="1099568"/>
            <a:ext cx="6251575" cy="4108001"/>
          </a:xfrm>
          <a:prstGeom prst="rect">
            <a:avLst/>
          </a:prstGeom>
          <a:effectLst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2DE1C0-A0D9-E64C-D553-6D3372AC1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Monthly Sales MIS (Sales, Profit, Quantity)</a:t>
            </a:r>
          </a:p>
          <a:p>
            <a:r>
              <a:rPr lang="en-US" dirty="0"/>
              <a:t>Region-wise Sales Contribution (%)</a:t>
            </a:r>
          </a:p>
          <a:p>
            <a:r>
              <a:rPr lang="en-US" dirty="0"/>
              <a:t>Category-wise Performance (Sales vs Profit)</a:t>
            </a:r>
          </a:p>
          <a:p>
            <a:r>
              <a:rPr lang="en-US" dirty="0"/>
              <a:t>Segment-wise Performance</a:t>
            </a:r>
          </a:p>
        </p:txBody>
      </p:sp>
    </p:spTree>
    <p:extLst>
      <p:ext uri="{BB962C8B-B14F-4D97-AF65-F5344CB8AC3E}">
        <p14:creationId xmlns:p14="http://schemas.microsoft.com/office/powerpoint/2010/main" val="436077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DFDDD-D379-033A-F11F-B3C68D3DA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46A0BDA-2311-9927-2B1C-2D87EE13C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6163" y="1322872"/>
            <a:ext cx="6251575" cy="3661394"/>
          </a:xfrm>
          <a:prstGeom prst="rect">
            <a:avLst/>
          </a:prstGeom>
          <a:effectLst/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231199A-824A-4533-AB8C-AC77A6AE522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78695" y="2762192"/>
            <a:ext cx="395946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 Cards: Total Sales, Total Profit, Total Quantity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Sales Trend (Line Chart)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Region-wise Sales Contribution (Column Chart)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Category-wise Sales &amp; Profit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slicers (Year, Region)</a:t>
            </a:r>
          </a:p>
        </p:txBody>
      </p:sp>
    </p:spTree>
    <p:extLst>
      <p:ext uri="{BB962C8B-B14F-4D97-AF65-F5344CB8AC3E}">
        <p14:creationId xmlns:p14="http://schemas.microsoft.com/office/powerpoint/2010/main" val="299178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5B0E46-257D-CAAF-13DE-B1EA4AF03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Insights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F051338-DB97-7E0A-9D21-DAABE2A46D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8712" y="3301879"/>
            <a:ext cx="623767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West region contributes the highest share of sales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show a steady trend with seasonal variations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category generates highest revenue &amp; profit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Furniture category shows lower profit margins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 segment contributes the most to total sales</a:t>
            </a:r>
          </a:p>
        </p:txBody>
      </p:sp>
    </p:spTree>
    <p:extLst>
      <p:ext uri="{BB962C8B-B14F-4D97-AF65-F5344CB8AC3E}">
        <p14:creationId xmlns:p14="http://schemas.microsoft.com/office/powerpoint/2010/main" val="598753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40AC6-1112-1FAA-3499-D72184B10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7D3D6F-F4AF-B3EA-9D39-9B87B65709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8712" y="3440378"/>
            <a:ext cx="63017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MIS dashboard enables quick performance tracking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management decision making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refreshed and reused monthly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strong MIS Executive reporting skills</a:t>
            </a:r>
          </a:p>
        </p:txBody>
      </p:sp>
    </p:spTree>
    <p:extLst>
      <p:ext uri="{BB962C8B-B14F-4D97-AF65-F5344CB8AC3E}">
        <p14:creationId xmlns:p14="http://schemas.microsoft.com/office/powerpoint/2010/main" val="22820541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_win32_v2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_win32_v2" id="{774FFE37-89CF-4C62-B7CB-36441A09341B}" vid="{B830AAAD-6172-4FB1-BCB8-2D9519D9192B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{0DAA37A2-5DB1-41D4-93EF-FB9FF404EF94}TF422d6a94-b412-4b4b-8b36-ccdb9da8dac8d8130915_win32-3b4bd71c511d</Template>
  <TotalTime>12</TotalTime>
  <Words>252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Courier New</vt:lpstr>
      <vt:lpstr>Wingdings 2</vt:lpstr>
      <vt:lpstr>Quotable_win32_v2</vt:lpstr>
      <vt:lpstr>Sales MIS Dashboard – Superstore Dataset</vt:lpstr>
      <vt:lpstr>Business Objective</vt:lpstr>
      <vt:lpstr>Dataset Overview</vt:lpstr>
      <vt:lpstr>Data Cleaning &amp; Preparation</vt:lpstr>
      <vt:lpstr>MIS Reports </vt:lpstr>
      <vt:lpstr>MIS Dashboard</vt:lpstr>
      <vt:lpstr>Management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Divyam Mahant</dc:creator>
  <cp:lastModifiedBy>Divyam Mahant</cp:lastModifiedBy>
  <cp:revision>1</cp:revision>
  <dcterms:created xsi:type="dcterms:W3CDTF">2025-12-26T13:26:20Z</dcterms:created>
  <dcterms:modified xsi:type="dcterms:W3CDTF">2025-12-26T13:38:33Z</dcterms:modified>
</cp:coreProperties>
</file>